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62" r:id="rId5"/>
    <p:sldId id="263" r:id="rId6"/>
    <p:sldId id="264" r:id="rId7"/>
    <p:sldId id="270" r:id="rId8"/>
    <p:sldId id="265" r:id="rId9"/>
    <p:sldId id="266" r:id="rId10"/>
    <p:sldId id="267" r:id="rId11"/>
    <p:sldId id="268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8F44A2F1-9E1F-4B54-A3A2-5F16C0AD49E2}" styleName="">
    <a:tblBg/>
    <a:wholeTbl>
      <a:tcTxStyle b="off" i="off">
        <a:font>
          <a:latin typeface="Open Sans Regular Regular"/>
          <a:ea typeface="Open Sans Regular Regular"/>
          <a:cs typeface="Open Sans Regular Regular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8C37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>
        <p:scale>
          <a:sx n="50" d="100"/>
          <a:sy n="5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2" name="Shape 11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3FFF5"/>
                </a:solidFill>
                <a:latin typeface="+mj-lt"/>
                <a:ea typeface="+mj-ea"/>
                <a:cs typeface="+mj-cs"/>
                <a:sym typeface="Open Sans Regular ExtraBold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flag-orpheus-top.png" descr="flag-orpheus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06" y="-30575"/>
            <a:ext cx="2051372" cy="1153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 (5).png" descr="image (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0400" y="6434399"/>
            <a:ext cx="4790367" cy="651458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owl with salmon cakes, salad, and humm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Subtitle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gradFill flip="none" rotWithShape="1">
          <a:gsLst>
            <a:gs pos="0">
              <a:srgbClr val="FF8C37"/>
            </a:gs>
            <a:gs pos="27537">
              <a:srgbClr val="F96E4D"/>
            </a:gs>
            <a:gs pos="100000">
              <a:srgbClr val="F25062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Subtitle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Bowl of pappardelle pasta with parsley butter, roasted hazelnuts,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bg>
      <p:bgPr>
        <a:gradFill flip="none" rotWithShape="1">
          <a:gsLst>
            <a:gs pos="0">
              <a:srgbClr val="FB558E"/>
            </a:gs>
            <a:gs pos="33000">
              <a:srgbClr val="D144B2"/>
            </a:gs>
            <a:gs pos="100000">
              <a:srgbClr val="A633D6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101494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latin typeface="+mj-lt"/>
                <a:ea typeface="+mj-ea"/>
                <a:cs typeface="+mj-cs"/>
                <a:sym typeface="Open Sans Regular ExtraBold"/>
              </a:defRPr>
            </a:lvl1pPr>
          </a:lstStyle>
          <a:p>
            <a:r>
              <a:t>Section Title</a:t>
            </a:r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bg>
      <p:bgPr>
        <a:gradFill flip="none" rotWithShape="1">
          <a:gsLst>
            <a:gs pos="0">
              <a:srgbClr val="FB558E"/>
            </a:gs>
            <a:gs pos="33000">
              <a:srgbClr val="D144B2"/>
            </a:gs>
            <a:gs pos="100000">
              <a:srgbClr val="A633D6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5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Slide Subtitle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bg>
      <p:bgPr>
        <a:gradFill flip="none" rotWithShape="1">
          <a:gsLst>
            <a:gs pos="0">
              <a:srgbClr val="FF8C37"/>
            </a:gs>
            <a:gs pos="27537">
              <a:srgbClr val="F96E4D"/>
            </a:gs>
            <a:gs pos="100000">
              <a:srgbClr val="F25062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bg>
      <p:bgPr>
        <a:gradFill flip="none" rotWithShape="1">
          <a:gsLst>
            <a:gs pos="0">
              <a:srgbClr val="5BC0DE"/>
            </a:gs>
            <a:gs pos="27537">
              <a:srgbClr val="47A7DC"/>
            </a:gs>
            <a:gs pos="100000">
              <a:srgbClr val="338EDA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8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bg>
      <p:bgPr>
        <a:gradFill flip="none" rotWithShape="1">
          <a:gsLst>
            <a:gs pos="0">
              <a:srgbClr val="5BC0DE"/>
            </a:gs>
            <a:gs pos="27537">
              <a:srgbClr val="47A7DC"/>
            </a:gs>
            <a:gs pos="100000">
              <a:srgbClr val="338EDA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Attribution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bg>
      <p:bgPr>
        <a:gradFill flip="none" rotWithShape="1">
          <a:gsLst>
            <a:gs pos="0">
              <a:srgbClr val="FF8C37"/>
            </a:gs>
            <a:gs pos="27537">
              <a:srgbClr val="F96E4D"/>
            </a:gs>
            <a:gs pos="100000">
              <a:srgbClr val="F25062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8C37"/>
            </a:gs>
            <a:gs pos="25533">
              <a:srgbClr val="F96E4D"/>
            </a:gs>
            <a:gs pos="100000">
              <a:srgbClr val="F25062"/>
            </a:gs>
          </a:gsLst>
          <a:lin ang="7363998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3429000"/>
            <a:ext cx="21971000" cy="8256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" name="flag-orpheus-top.png" descr="flag-orpheus-to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707" y="-112557"/>
            <a:ext cx="1855047" cy="104346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0" b="0" i="0" u="none" strike="noStrike" cap="none" spc="-140" baseline="0">
          <a:solidFill>
            <a:srgbClr val="FFFFFF"/>
          </a:solidFill>
          <a:uFillTx/>
          <a:latin typeface="+mn-lt"/>
          <a:ea typeface="+mn-ea"/>
          <a:cs typeface="+mn-cs"/>
          <a:sym typeface="Open Sans Regular Bold"/>
        </a:defRPr>
      </a:lvl9pPr>
    </p:titleStyle>
    <p:bodyStyle>
      <a:lvl1pPr marL="5080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1pPr>
      <a:lvl2pPr marL="11176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2pPr>
      <a:lvl3pPr marL="17272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3pPr>
      <a:lvl4pPr marL="23368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4pPr>
      <a:lvl5pPr marL="29464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5pPr>
      <a:lvl6pPr marL="35560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6pPr>
      <a:lvl7pPr marL="41656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7pPr>
      <a:lvl8pPr marL="47752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8pPr>
      <a:lvl9pPr marL="5384800" marR="0" indent="-5080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000" b="0" i="0" u="none" strike="noStrike" cap="none" spc="0" baseline="0">
          <a:solidFill>
            <a:srgbClr val="FFFFFF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8C37"/>
            </a:gs>
            <a:gs pos="10265">
              <a:srgbClr val="F96E4D"/>
            </a:gs>
            <a:gs pos="100000">
              <a:srgbClr val="F25062"/>
            </a:gs>
          </a:gsLst>
          <a:lin ang="7880325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Welcome to Hack Club!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Welcome to </a:t>
            </a:r>
            <a:r>
              <a:rPr lang="en-GB" dirty="0"/>
              <a:t> LMS </a:t>
            </a:r>
            <a:r>
              <a:rPr dirty="0"/>
              <a:t>Hack Club!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4B5C2-D190-77C4-4996-4914EBBF72C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GB" i="1" dirty="0"/>
              <a:t>Recently updated </a:t>
            </a:r>
            <a:r>
              <a:rPr lang="en-GB" i="1" dirty="0" err="1"/>
              <a:t>powerpoint</a:t>
            </a:r>
            <a:r>
              <a:rPr lang="en-GB" i="1" dirty="0"/>
              <a:t>…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o…how do websites work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So…how do websites work?</a:t>
            </a:r>
          </a:p>
        </p:txBody>
      </p:sp>
      <p:sp>
        <p:nvSpPr>
          <p:cNvPr id="133" name="They use HTML and CSS, along with some Javascrip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They use HTML</a:t>
            </a:r>
            <a:r>
              <a:rPr lang="en-GB" dirty="0"/>
              <a:t>,</a:t>
            </a:r>
            <a:r>
              <a:rPr dirty="0"/>
              <a:t> CSS</a:t>
            </a:r>
            <a:r>
              <a:rPr lang="en-GB" dirty="0"/>
              <a:t> for styling</a:t>
            </a:r>
            <a:r>
              <a:rPr dirty="0"/>
              <a:t>, along with some JavaScript</a:t>
            </a:r>
            <a:r>
              <a:rPr lang="en-GB" dirty="0"/>
              <a:t> for interactive parts</a:t>
            </a:r>
            <a:endParaRPr dirty="0"/>
          </a:p>
        </p:txBody>
      </p:sp>
      <p:sp>
        <p:nvSpPr>
          <p:cNvPr id="134" name="Go to any website and open up Inspect Element…"/>
          <p:cNvSpPr txBox="1">
            <a:spLocks noGrp="1"/>
          </p:cNvSpPr>
          <p:nvPr>
            <p:ph type="body" idx="1"/>
          </p:nvPr>
        </p:nvSpPr>
        <p:spPr>
          <a:xfrm>
            <a:off x="1206500" y="3429000"/>
            <a:ext cx="21971000" cy="9895020"/>
          </a:xfrm>
          <a:prstGeom prst="rect">
            <a:avLst/>
          </a:prstGeom>
        </p:spPr>
        <p:txBody>
          <a:bodyPr/>
          <a:lstStyle/>
          <a:p>
            <a:pPr marL="396239" indent="-396239" defTabSz="1901904">
              <a:spcBef>
                <a:spcPts val="3500"/>
              </a:spcBef>
              <a:defRPr sz="3120"/>
            </a:pPr>
            <a:r>
              <a:rPr dirty="0"/>
              <a:t>Go to any website and </a:t>
            </a:r>
            <a:r>
              <a:rPr lang="en-GB" dirty="0"/>
              <a:t>open</a:t>
            </a:r>
            <a:r>
              <a:rPr dirty="0"/>
              <a:t> </a:t>
            </a:r>
            <a:r>
              <a:rPr dirty="0">
                <a:latin typeface="+mn-lt"/>
                <a:ea typeface="+mn-ea"/>
                <a:cs typeface="+mn-cs"/>
                <a:sym typeface="Open Sans Regular Bold"/>
              </a:rPr>
              <a:t>Inspect Element</a:t>
            </a:r>
          </a:p>
          <a:p>
            <a:pPr marL="396239" indent="-396239" defTabSz="1901904">
              <a:spcBef>
                <a:spcPts val="3500"/>
              </a:spcBef>
              <a:defRPr sz="3120"/>
            </a:pPr>
            <a:r>
              <a:rPr dirty="0"/>
              <a:t>That code on the top is HTML, and it works storing information inside of </a:t>
            </a:r>
            <a:r>
              <a:rPr dirty="0">
                <a:latin typeface="+mn-lt"/>
                <a:ea typeface="+mn-ea"/>
                <a:cs typeface="+mn-cs"/>
                <a:sym typeface="Open Sans Regular Bold"/>
              </a:rPr>
              <a:t>tags</a:t>
            </a:r>
            <a:r>
              <a:rPr dirty="0"/>
              <a:t>.</a:t>
            </a:r>
          </a:p>
          <a:p>
            <a:pPr marL="396239" indent="-396239" defTabSz="1901904">
              <a:spcBef>
                <a:spcPts val="3500"/>
              </a:spcBef>
              <a:defRPr sz="3120"/>
            </a:pPr>
            <a:endParaRPr dirty="0"/>
          </a:p>
          <a:p>
            <a:pPr marL="396239" indent="-396239" defTabSz="1901904">
              <a:spcBef>
                <a:spcPts val="3500"/>
              </a:spcBef>
              <a:defRPr sz="3120"/>
            </a:pPr>
            <a:endParaRPr dirty="0"/>
          </a:p>
          <a:p>
            <a:pPr marL="396239" indent="-396239" defTabSz="1901904">
              <a:spcBef>
                <a:spcPts val="3500"/>
              </a:spcBef>
              <a:defRPr sz="3120"/>
            </a:pPr>
            <a:endParaRPr dirty="0"/>
          </a:p>
          <a:p>
            <a:pPr marL="396239" indent="-396239" defTabSz="1901904">
              <a:spcBef>
                <a:spcPts val="3500"/>
              </a:spcBef>
              <a:defRPr sz="3120"/>
            </a:pPr>
            <a:endParaRPr dirty="0"/>
          </a:p>
          <a:p>
            <a:pPr marL="396239" indent="-396239" defTabSz="1901904">
              <a:spcBef>
                <a:spcPts val="3500"/>
              </a:spcBef>
              <a:defRPr sz="3120"/>
            </a:pPr>
            <a:endParaRPr dirty="0"/>
          </a:p>
          <a:p>
            <a:pPr marL="396239" indent="-396239" defTabSz="1901904">
              <a:spcBef>
                <a:spcPts val="3500"/>
              </a:spcBef>
              <a:defRPr sz="31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&lt;!DOCTYPE html&gt;</a:t>
            </a:r>
            <a:r>
              <a:rPr dirty="0">
                <a:latin typeface="Open Sans Regular Regular"/>
                <a:ea typeface="Open Sans Regular Regular"/>
                <a:cs typeface="Open Sans Regular Regular"/>
                <a:sym typeface="Open Sans Regular Regular"/>
              </a:rPr>
              <a:t> tells the browser what version of HTML we’re using</a:t>
            </a:r>
          </a:p>
          <a:p>
            <a:pPr marL="396239" indent="-396239" defTabSz="1901904">
              <a:spcBef>
                <a:spcPts val="3500"/>
              </a:spcBef>
              <a:defRPr sz="31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&lt;html&gt;</a:t>
            </a:r>
            <a:r>
              <a:rPr dirty="0">
                <a:latin typeface="Open Sans Regular Regular"/>
                <a:ea typeface="Open Sans Regular Regular"/>
                <a:cs typeface="Open Sans Regular Regular"/>
                <a:sym typeface="Open Sans Regular Regular"/>
              </a:rPr>
              <a:t> contains </a:t>
            </a:r>
            <a:r>
              <a:rPr lang="en-GB" dirty="0">
                <a:latin typeface="Open Sans Regular Regular"/>
                <a:ea typeface="Open Sans Regular Regular"/>
                <a:cs typeface="Open Sans Regular Regular"/>
                <a:sym typeface="Open Sans Regular Regular"/>
              </a:rPr>
              <a:t>all</a:t>
            </a:r>
            <a:r>
              <a:rPr dirty="0">
                <a:latin typeface="Open Sans Regular Regular"/>
                <a:ea typeface="Open Sans Regular Regular"/>
                <a:cs typeface="Open Sans Regular Regular"/>
                <a:sym typeface="Open Sans Regular Regular"/>
              </a:rPr>
              <a:t> our HTML code</a:t>
            </a:r>
          </a:p>
          <a:p>
            <a:pPr marL="396239" indent="-396239" defTabSz="1901904">
              <a:spcBef>
                <a:spcPts val="3500"/>
              </a:spcBef>
              <a:defRPr sz="31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&lt;head&gt;</a:t>
            </a:r>
            <a:r>
              <a:rPr dirty="0">
                <a:latin typeface="Open Sans Regular Regular"/>
                <a:ea typeface="Open Sans Regular Regular"/>
                <a:cs typeface="Open Sans Regular Regular"/>
                <a:sym typeface="Open Sans Regular Regular"/>
              </a:rPr>
              <a:t> tells your browser about the content of your page</a:t>
            </a:r>
          </a:p>
          <a:p>
            <a:pPr marL="396239" indent="-396239" defTabSz="1901904">
              <a:spcBef>
                <a:spcPts val="3500"/>
              </a:spcBef>
              <a:defRPr sz="3120"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&lt;body&gt;</a:t>
            </a:r>
            <a:r>
              <a:rPr dirty="0">
                <a:latin typeface="Open Sans Regular Regular"/>
                <a:ea typeface="Open Sans Regular Regular"/>
                <a:cs typeface="Open Sans Regular Regular"/>
                <a:sym typeface="Open Sans Regular Regular"/>
              </a:rPr>
              <a:t> contains the actual content you see on your page</a:t>
            </a:r>
          </a:p>
        </p:txBody>
      </p:sp>
      <p:sp>
        <p:nvSpPr>
          <p:cNvPr id="135" name="&lt;!DOCTYPE html&gt;…"/>
          <p:cNvSpPr txBox="1"/>
          <p:nvPr/>
        </p:nvSpPr>
        <p:spPr>
          <a:xfrm>
            <a:off x="1696401" y="5458785"/>
            <a:ext cx="7176826" cy="3365501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 anchor="ctr">
            <a:spAutoFit/>
          </a:bodyPr>
          <a:lstStyle/>
          <a:p>
            <a:pPr algn="l" defTabSz="457200">
              <a:defRPr sz="4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&lt;!DOCTYPE html&gt;</a:t>
            </a:r>
          </a:p>
          <a:p>
            <a:pPr algn="l" defTabSz="457200">
              <a:defRPr sz="4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&lt;html&gt;</a:t>
            </a:r>
          </a:p>
          <a:p>
            <a:pPr algn="l" defTabSz="457200">
              <a:defRPr sz="4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&lt;head&gt;&lt;/head&gt;</a:t>
            </a:r>
          </a:p>
          <a:p>
            <a:pPr algn="l" defTabSz="457200">
              <a:defRPr sz="4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&lt;body&gt;&lt;/body&gt;</a:t>
            </a:r>
          </a:p>
          <a:p>
            <a:pPr algn="l" defTabSz="457200">
              <a:defRPr sz="4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&lt;/html&gt;</a:t>
            </a:r>
          </a:p>
        </p:txBody>
      </p:sp>
      <p:pic>
        <p:nvPicPr>
          <p:cNvPr id="136" name="image (9).png" descr="image (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2444" y="9528048"/>
            <a:ext cx="2180378" cy="42027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What are CSS and JS for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are CSS and JS for?</a:t>
            </a:r>
          </a:p>
        </p:txBody>
      </p:sp>
      <p:sp>
        <p:nvSpPr>
          <p:cNvPr id="139" name="HTML, CSS, and JS all work together to make good websites.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HTML, CSS, and JS all work together to make good websites.</a:t>
            </a:r>
          </a:p>
        </p:txBody>
      </p:sp>
      <p:graphicFrame>
        <p:nvGraphicFramePr>
          <p:cNvPr id="140" name="Table 1"/>
          <p:cNvGraphicFramePr/>
          <p:nvPr>
            <p:extLst>
              <p:ext uri="{D42A27DB-BD31-4B8C-83A1-F6EECF244321}">
                <p14:modId xmlns:p14="http://schemas.microsoft.com/office/powerpoint/2010/main" val="1037458185"/>
              </p:ext>
            </p:extLst>
          </p:nvPr>
        </p:nvGraphicFramePr>
        <p:xfrm>
          <a:off x="6705600" y="3893991"/>
          <a:ext cx="10972800" cy="8243310"/>
        </p:xfrm>
        <a:graphic>
          <a:graphicData uri="http://schemas.openxmlformats.org/drawingml/2006/table">
            <a:tbl>
              <a:tblPr firstRow="1" firstCol="1">
                <a:tableStyleId>{8F44A2F1-9E1F-4B54-A3A2-5F16C0AD49E2}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 b="0">
                          <a:sym typeface="Open Sans Regular Bold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T w="0">
                      <a:miter lim="400000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Open Sans Regular Bold"/>
                        </a:rPr>
                        <a:t>HTML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Open Sans Regular Bold"/>
                        </a:rPr>
                        <a:t>CSS</a:t>
                      </a:r>
                    </a:p>
                  </a:txBody>
                  <a:tcPr marL="50800" marR="50800" marT="50800" marB="50800" anchor="ctr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  <a:sym typeface="Open Sans Regular Bold"/>
                        </a:rPr>
                        <a:t>JS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T w="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Open Sans Regular Bold"/>
                        </a:rPr>
                        <a:t>Purpose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B w="12700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Structure, Objects, Things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Looks, Style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Actions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Open Sans Regular Bold"/>
                        </a:rPr>
                        <a:t>Syntax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&lt;p&gt; &lt;h1&gt; &lt;body&gt;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p {   color: red; } </a:t>
                      </a:r>
                    </a:p>
                  </a:txBody>
                  <a:tcPr marL="165100" marR="165100" marT="165100" marB="1651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latin typeface="Menlo Regular"/>
                          <a:ea typeface="Menlo Regular"/>
                          <a:cs typeface="Menlo Regular"/>
                          <a:sym typeface="Menlo Regular"/>
                        </a:rPr>
                        <a:t>var x = 5; 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9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Open Sans Regular Bold"/>
                        </a:rPr>
                        <a:t>Gramm</a:t>
                      </a:r>
                      <a:r>
                        <a:rPr lang="en-GB" sz="19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Open Sans Regular Bold"/>
                        </a:rPr>
                        <a:t>a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Open Sans Regular Bold"/>
                        </a:rPr>
                        <a:t>r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12700">
                      <a:solidFill>
                        <a:srgbClr val="FFFFFF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Nouns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Adjectives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Verbs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  <a:sym typeface="Open Sans Regular Bold"/>
                        </a:rPr>
                        <a:t>Building</a:t>
                      </a:r>
                    </a:p>
                  </a:txBody>
                  <a:tcPr marL="50800" marR="50800" marT="50800" marB="50800" anchor="ctr" horzOverflow="overflow">
                    <a:lnL w="0">
                      <a:miter lim="400000"/>
                    </a:lnL>
                    <a:lnR w="12700">
                      <a:solidFill>
                        <a:srgbClr val="FFFFFF"/>
                      </a:solidFill>
                      <a:miter lim="400000"/>
                    </a:lnR>
                    <a:lnT w="12700">
                      <a:solidFill>
                        <a:srgbClr val="FFFFFF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Walls, Structure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FFFFFF"/>
                      </a:solidFill>
                      <a:miter lim="400000"/>
                    </a:lnL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rgbClr val="FFFFFF"/>
                          </a:solidFill>
                          <a:sym typeface="Open Sans Regular Regular"/>
                        </a:rPr>
                        <a:t>Paint, Curtains</a:t>
                      </a:r>
                    </a:p>
                  </a:txBody>
                  <a:tcPr marL="50800" marR="50800" marT="50800" marB="50800" anchor="ctr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solidFill>
                            <a:srgbClr val="FFFFFF"/>
                          </a:solidFill>
                          <a:sym typeface="Open Sans Regular Regular"/>
                        </a:rPr>
                        <a:t>Electrical, Plumbing, AC</a:t>
                      </a:r>
                    </a:p>
                  </a:txBody>
                  <a:tcPr marL="50800" marR="50800" marT="50800" marB="50800" anchor="ctr" horzOverflow="overflow">
                    <a:lnR w="0">
                      <a:miter lim="400000"/>
                    </a:lnR>
                    <a:lnB w="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Let’s start hacking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Let’s start hacking!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et’s make a website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Let’s make a website!</a:t>
            </a:r>
          </a:p>
        </p:txBody>
      </p:sp>
      <p:sp>
        <p:nvSpPr>
          <p:cNvPr id="145" name="Isn’t this exciting?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Isn’t this exciting?</a:t>
            </a:r>
          </a:p>
        </p:txBody>
      </p:sp>
      <p:sp>
        <p:nvSpPr>
          <p:cNvPr id="146" name="Go to repl.it/languages/html…"/>
          <p:cNvSpPr txBox="1">
            <a:spLocks noGrp="1"/>
          </p:cNvSpPr>
          <p:nvPr>
            <p:ph type="body" idx="1"/>
          </p:nvPr>
        </p:nvSpPr>
        <p:spPr>
          <a:xfrm>
            <a:off x="1206500" y="3429000"/>
            <a:ext cx="21971000" cy="92583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Press the ‘windows’ ⊞ key on your keyboard.</a:t>
            </a:r>
          </a:p>
          <a:p>
            <a:r>
              <a:rPr lang="en-GB" dirty="0"/>
              <a:t>Type ‘Visual Studio Code’ and click on it!</a:t>
            </a:r>
          </a:p>
          <a:p>
            <a:r>
              <a:rPr lang="en-GB" dirty="0"/>
              <a:t>Make a new file and call it ‘index.html’</a:t>
            </a:r>
          </a:p>
          <a:p>
            <a:r>
              <a:rPr lang="en-GB" dirty="0"/>
              <a:t>Type this code:</a:t>
            </a:r>
          </a:p>
          <a:p>
            <a:endParaRPr dirty="0"/>
          </a:p>
          <a:p>
            <a:endParaRPr dirty="0"/>
          </a:p>
        </p:txBody>
      </p:sp>
      <p:sp>
        <p:nvSpPr>
          <p:cNvPr id="147" name="&lt;!DOCTYPE html&gt;…"/>
          <p:cNvSpPr txBox="1"/>
          <p:nvPr/>
        </p:nvSpPr>
        <p:spPr>
          <a:xfrm>
            <a:off x="1669401" y="7584186"/>
            <a:ext cx="7176826" cy="2667001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 anchor="ctr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&lt;!DOCTYPE html&gt;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&lt;html&gt;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&lt;head&gt;&lt;/head&gt;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&lt;body&gt;&lt;/body&gt;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&lt;/html&gt;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Adding some cont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some content</a:t>
            </a:r>
          </a:p>
        </p:txBody>
      </p:sp>
      <p:sp>
        <p:nvSpPr>
          <p:cNvPr id="150" name="Yes, it’s a website, but a pretty empty one so fa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Yes, it’s a website, but a pretty empty one so far</a:t>
            </a:r>
          </a:p>
        </p:txBody>
      </p:sp>
      <p:sp>
        <p:nvSpPr>
          <p:cNvPr id="151" name="We need to add content into the &lt;body&gt; tag using the &lt;p&gt; and &lt;h1&gt; tag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We need to add content into the 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&lt;body&gt;</a:t>
            </a:r>
            <a:r>
              <a:rPr dirty="0"/>
              <a:t> tag using the 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&lt;p&gt;</a:t>
            </a:r>
            <a:r>
              <a:rPr dirty="0"/>
              <a:t> and 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&lt;h1&gt;</a:t>
            </a:r>
            <a:r>
              <a:rPr dirty="0"/>
              <a:t> tags.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GB" dirty="0"/>
          </a:p>
          <a:p>
            <a:r>
              <a:rPr lang="en-GB" dirty="0"/>
              <a:t>Make sure to save your work!</a:t>
            </a:r>
            <a:endParaRPr dirty="0"/>
          </a:p>
        </p:txBody>
      </p:sp>
      <p:sp>
        <p:nvSpPr>
          <p:cNvPr id="152" name="&lt;!DOCTYPE html&gt;…"/>
          <p:cNvSpPr txBox="1"/>
          <p:nvPr/>
        </p:nvSpPr>
        <p:spPr>
          <a:xfrm>
            <a:off x="1799505" y="4522557"/>
            <a:ext cx="10944840" cy="4078039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 anchor="ctr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&lt;!DOCTYPE html&gt;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&lt;html&gt;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lang="en-GB" dirty="0"/>
              <a:t>    </a:t>
            </a:r>
            <a:r>
              <a:rPr dirty="0"/>
              <a:t>&lt;head&gt;&lt;/head&gt;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</a:t>
            </a:r>
            <a:r>
              <a:rPr lang="en-GB" dirty="0"/>
              <a:t>      </a:t>
            </a:r>
            <a:r>
              <a:rPr dirty="0"/>
              <a:t>&lt;body&gt;</a:t>
            </a:r>
            <a:br>
              <a:rPr dirty="0"/>
            </a:br>
            <a:r>
              <a:rPr dirty="0"/>
              <a:t>    </a:t>
            </a:r>
            <a:r>
              <a:rPr lang="en-GB" dirty="0"/>
              <a:t>        </a:t>
            </a:r>
            <a:r>
              <a:rPr dirty="0"/>
              <a:t>&lt;h1&gt;</a:t>
            </a:r>
            <a:r>
              <a:rPr lang="en-GB" dirty="0"/>
              <a:t>[Your name here!]</a:t>
            </a:r>
            <a:r>
              <a:rPr dirty="0"/>
              <a:t>&lt;/h1&gt;</a:t>
            </a:r>
            <a:br>
              <a:rPr dirty="0"/>
            </a:br>
            <a:r>
              <a:rPr dirty="0"/>
              <a:t>    </a:t>
            </a:r>
            <a:r>
              <a:rPr lang="en-GB" dirty="0"/>
              <a:t>        </a:t>
            </a:r>
            <a:r>
              <a:rPr dirty="0"/>
              <a:t>&lt;p&gt;Welcome to my website!&lt;/p&gt;</a:t>
            </a:r>
            <a:br>
              <a:rPr dirty="0"/>
            </a:br>
            <a:r>
              <a:rPr dirty="0"/>
              <a:t> </a:t>
            </a:r>
            <a:r>
              <a:rPr lang="en-GB" dirty="0"/>
              <a:t>      </a:t>
            </a:r>
            <a:r>
              <a:rPr dirty="0"/>
              <a:t> &lt;/body&gt;</a:t>
            </a:r>
            <a:endParaRPr lang="en-GB" dirty="0"/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&lt;/html&gt;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D76A-2EA3-BD36-C40D-81CA1CC7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See your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D6CDD-43FD-004A-11DE-6B6DC0A406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GB" dirty="0"/>
              <a:t>Your creation!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E71F7-CF45-C899-A6F8-47E56870F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 on the extensions tab on the left – it has this icon:</a:t>
            </a:r>
          </a:p>
          <a:p>
            <a:r>
              <a:rPr lang="en-GB" dirty="0"/>
              <a:t>Type in the search bar on the left: ‘Live preview’</a:t>
            </a:r>
          </a:p>
          <a:p>
            <a:r>
              <a:rPr lang="en-GB" dirty="0"/>
              <a:t>Click install</a:t>
            </a:r>
          </a:p>
          <a:p>
            <a:r>
              <a:rPr lang="en-GB" dirty="0"/>
              <a:t>On the top right of your screen, click this button: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020DA-1FDE-F2B0-3B2F-B4D969780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2939" y="2512663"/>
            <a:ext cx="1430754" cy="149888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D9CAB14-ECC4-6BAB-7CCB-A603BD691BC9}"/>
              </a:ext>
            </a:extLst>
          </p:cNvPr>
          <p:cNvGrpSpPr/>
          <p:nvPr/>
        </p:nvGrpSpPr>
        <p:grpSpPr>
          <a:xfrm>
            <a:off x="13237597" y="4342995"/>
            <a:ext cx="3126096" cy="1436313"/>
            <a:chOff x="10331111" y="5240142"/>
            <a:chExt cx="3126096" cy="143631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731DCD-F812-E794-FE9D-AC8DC1E90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1111" y="5240142"/>
              <a:ext cx="3126096" cy="143631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99B32B-BD20-0354-9BDE-4ED689F33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53026" y="6045494"/>
              <a:ext cx="1104181" cy="63096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9A2C2-5843-CFD8-3505-ADE3ADC2C1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9753" t="1" b="42738"/>
          <a:stretch>
            <a:fillRect/>
          </a:stretch>
        </p:blipFill>
        <p:spPr>
          <a:xfrm>
            <a:off x="5589918" y="7583147"/>
            <a:ext cx="7357720" cy="56458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E060E0-0DCF-FBF5-02E3-DA36C6C09E36}"/>
              </a:ext>
            </a:extLst>
          </p:cNvPr>
          <p:cNvCxnSpPr>
            <a:cxnSpLocks/>
          </p:cNvCxnSpPr>
          <p:nvPr/>
        </p:nvCxnSpPr>
        <p:spPr>
          <a:xfrm flipH="1">
            <a:off x="12358688" y="7557005"/>
            <a:ext cx="4186776" cy="524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1F9F9A3-F1B4-FBF4-3110-BB78EB138E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638" t="3920" r="3242" b="93784"/>
          <a:stretch>
            <a:fillRect/>
          </a:stretch>
        </p:blipFill>
        <p:spPr>
          <a:xfrm>
            <a:off x="16863930" y="6158995"/>
            <a:ext cx="2397277" cy="26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925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dding some medi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Adding some media</a:t>
            </a:r>
          </a:p>
        </p:txBody>
      </p:sp>
      <p:sp>
        <p:nvSpPr>
          <p:cNvPr id="155" name="The website’s still looking a bit bland… let’s add an image or two with the &lt;img&gt; tag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The website’s still looking a bit bland… let’s add an image or two with the </a:t>
            </a:r>
            <a:r>
              <a:rPr b="0">
                <a:latin typeface="Menlo Regular"/>
                <a:ea typeface="Menlo Regular"/>
                <a:cs typeface="Menlo Regular"/>
                <a:sym typeface="Menlo Regular"/>
              </a:rPr>
              <a:t>&lt;img&gt;</a:t>
            </a:r>
            <a:r>
              <a:rPr b="0"/>
              <a:t> tag</a:t>
            </a:r>
          </a:p>
        </p:txBody>
      </p:sp>
      <p:sp>
        <p:nvSpPr>
          <p:cNvPr id="156" name="Find an image on Google that you like and copy the URL to i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Let’s add the Hack Club flag (or your own image)!</a:t>
            </a:r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Your code should look something like this now:</a:t>
            </a:r>
          </a:p>
        </p:txBody>
      </p:sp>
      <p:sp>
        <p:nvSpPr>
          <p:cNvPr id="157" name="&lt;img   src=“your_url_here”…"/>
          <p:cNvSpPr txBox="1"/>
          <p:nvPr/>
        </p:nvSpPr>
        <p:spPr>
          <a:xfrm>
            <a:off x="1817200" y="4550847"/>
            <a:ext cx="9297417" cy="1769715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0" tIns="190500" rIns="190500" bIns="190500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</a:t>
            </a:r>
            <a:r>
              <a:rPr dirty="0" err="1"/>
              <a:t>img</a:t>
            </a:r>
            <a:br>
              <a:rPr dirty="0"/>
            </a:br>
            <a:r>
              <a:rPr dirty="0"/>
              <a:t>  </a:t>
            </a:r>
            <a:r>
              <a:rPr dirty="0" err="1"/>
              <a:t>src</a:t>
            </a:r>
            <a:r>
              <a:rPr dirty="0"/>
              <a:t>=“</a:t>
            </a:r>
            <a:r>
              <a:rPr lang="en-GB" dirty="0"/>
              <a:t>https://assets.hackclub.com/flag-orpheus-left.svg</a:t>
            </a:r>
            <a:r>
              <a:rPr dirty="0"/>
              <a:t>”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/&gt;</a:t>
            </a:r>
          </a:p>
        </p:txBody>
      </p:sp>
      <p:sp>
        <p:nvSpPr>
          <p:cNvPr id="158" name="&lt;!DOCTYPE html&gt;…"/>
          <p:cNvSpPr txBox="1"/>
          <p:nvPr/>
        </p:nvSpPr>
        <p:spPr>
          <a:xfrm>
            <a:off x="1696401" y="8351430"/>
            <a:ext cx="10944840" cy="4539704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 anchor="ctr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&lt;!DOCTYPE html&gt;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  &lt;</a:t>
            </a:r>
            <a:r>
              <a:rPr dirty="0" err="1"/>
              <a:t>img</a:t>
            </a:r>
            <a:br>
              <a:rPr dirty="0"/>
            </a:br>
            <a:r>
              <a:rPr dirty="0"/>
              <a:t>      </a:t>
            </a:r>
            <a:r>
              <a:rPr dirty="0" err="1"/>
              <a:t>src</a:t>
            </a:r>
            <a:r>
              <a:rPr dirty="0"/>
              <a:t>=“</a:t>
            </a:r>
            <a:r>
              <a:rPr lang="en-GB" dirty="0"/>
              <a:t>https://assets.hackclub.com/flag-orpheus-left.svg</a:t>
            </a:r>
            <a:r>
              <a:rPr dirty="0"/>
              <a:t>”</a:t>
            </a:r>
            <a:br>
              <a:rPr dirty="0"/>
            </a:br>
            <a:r>
              <a:rPr dirty="0"/>
              <a:t>    /&gt;</a:t>
            </a:r>
            <a:br>
              <a:rPr dirty="0"/>
            </a:br>
            <a:r>
              <a:rPr dirty="0"/>
              <a:t>    &lt;h1&gt;</a:t>
            </a:r>
            <a:r>
              <a:rPr lang="en-GB" dirty="0"/>
              <a:t>[Your Name]</a:t>
            </a:r>
            <a:r>
              <a:rPr dirty="0"/>
              <a:t>&lt;/h1&gt;</a:t>
            </a:r>
            <a:br>
              <a:rPr dirty="0"/>
            </a:br>
            <a:r>
              <a:rPr dirty="0"/>
              <a:t>    &lt;p&gt;Welcome to my website!&lt;/p&gt;</a:t>
            </a:r>
            <a:br>
              <a:rPr dirty="0"/>
            </a:br>
            <a:endParaRPr dirty="0"/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&lt;/html&gt;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067F40-C15A-DB2C-CFAD-4F88983513B1}"/>
              </a:ext>
            </a:extLst>
          </p:cNvPr>
          <p:cNvSpPr/>
          <p:nvPr/>
        </p:nvSpPr>
        <p:spPr>
          <a:xfrm>
            <a:off x="11725317" y="4276412"/>
            <a:ext cx="11677650" cy="2318583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GB" sz="7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https://assets.hackclub.com/flag-orpheus-left.svg</a:t>
            </a:r>
            <a:endParaRPr kumimoji="0" lang="en-GB" sz="7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 advAuto="0"/>
      <p:bldP spid="158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Let’s add a bit of ✨spice✨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Let’s add a bit of ✨spice✨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How do we use CS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do we use CSS?</a:t>
            </a:r>
          </a:p>
        </p:txBody>
      </p:sp>
      <p:sp>
        <p:nvSpPr>
          <p:cNvPr id="163" name="We need to set up our HTML file properly before we can style our websit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We need to set up our HTML file properly before we can style our website</a:t>
            </a:r>
          </a:p>
        </p:txBody>
      </p:sp>
      <p:sp>
        <p:nvSpPr>
          <p:cNvPr id="164" name="First, we need to tell our HTML to use our CSS file.…"/>
          <p:cNvSpPr txBox="1">
            <a:spLocks noGrp="1"/>
          </p:cNvSpPr>
          <p:nvPr>
            <p:ph type="body" idx="1"/>
          </p:nvPr>
        </p:nvSpPr>
        <p:spPr>
          <a:xfrm>
            <a:off x="1206500" y="3425991"/>
            <a:ext cx="21971000" cy="9258956"/>
          </a:xfrm>
          <a:prstGeom prst="rect">
            <a:avLst/>
          </a:prstGeom>
        </p:spPr>
        <p:txBody>
          <a:bodyPr/>
          <a:lstStyle/>
          <a:p>
            <a:r>
              <a:t>First, we need to tell our HTML to use our CSS file.</a:t>
            </a:r>
          </a:p>
          <a:p>
            <a:endParaRPr/>
          </a:p>
          <a:p>
            <a:r>
              <a:t>This goes in your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&lt;head&gt;</a:t>
            </a:r>
            <a:r>
              <a:t> tag, since we’re telling the browser to use this file</a:t>
            </a:r>
          </a:p>
          <a:p>
            <a:r>
              <a:t>The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&lt;rel&gt; </a:t>
            </a:r>
            <a:r>
              <a:t>part tells the browser what kind of relationship this is, since the CSS file is a </a:t>
            </a:r>
            <a:r>
              <a:rPr>
                <a:latin typeface="+mn-lt"/>
                <a:ea typeface="+mn-ea"/>
                <a:cs typeface="+mn-cs"/>
                <a:sym typeface="Open Sans Regular Bold"/>
              </a:rPr>
              <a:t>stylesheet</a:t>
            </a:r>
            <a:r>
              <a:t>.</a:t>
            </a:r>
          </a:p>
        </p:txBody>
      </p:sp>
      <p:sp>
        <p:nvSpPr>
          <p:cNvPr id="165" name="&lt;link rel=&quot;stylesheet&quot; href=&quot;style.css&quot; /&gt;"/>
          <p:cNvSpPr txBox="1"/>
          <p:nvPr/>
        </p:nvSpPr>
        <p:spPr>
          <a:xfrm>
            <a:off x="1778536" y="4471826"/>
            <a:ext cx="10091218" cy="889001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90500" tIns="190500" rIns="190500" bIns="190500">
            <a:spAutoFit/>
          </a:bodyPr>
          <a:lstStyle>
            <a:lvl1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r>
              <a:t>&lt;link rel="stylesheet" href="style.css" /&gt;</a:t>
            </a:r>
          </a:p>
        </p:txBody>
      </p:sp>
      <p:sp>
        <p:nvSpPr>
          <p:cNvPr id="166" name="&lt;!DOCTYPE html&gt;…"/>
          <p:cNvSpPr txBox="1"/>
          <p:nvPr/>
        </p:nvSpPr>
        <p:spPr>
          <a:xfrm>
            <a:off x="1786617" y="8903310"/>
            <a:ext cx="12909245" cy="3616375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 anchor="ctr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&lt;!DOCTYPE html&gt;</a:t>
            </a:r>
            <a:endParaRPr lang="en-GB" dirty="0"/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endParaRPr dirty="0"/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 &lt;head&gt;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   &lt;link </a:t>
            </a:r>
            <a:r>
              <a:rPr dirty="0" err="1"/>
              <a:t>rel</a:t>
            </a:r>
            <a:r>
              <a:rPr dirty="0"/>
              <a:t>="stylesheet" </a:t>
            </a:r>
            <a:r>
              <a:rPr dirty="0" err="1"/>
              <a:t>href</a:t>
            </a:r>
            <a:r>
              <a:rPr dirty="0"/>
              <a:t>="style.css" /&gt;</a:t>
            </a:r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   &lt;/head&gt;</a:t>
            </a:r>
            <a:br>
              <a:rPr dirty="0"/>
            </a:br>
            <a:endParaRPr dirty="0"/>
          </a:p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&lt;/html&gt;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 advAuto="0"/>
      <p:bldP spid="166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How do we use CS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do we use CSS?</a:t>
            </a:r>
          </a:p>
        </p:txBody>
      </p:sp>
      <p:sp>
        <p:nvSpPr>
          <p:cNvPr id="169" name="Your website is about to look a whole lot bette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Your website is about to look a whole lot better</a:t>
            </a:r>
          </a:p>
        </p:txBody>
      </p:sp>
      <p:sp>
        <p:nvSpPr>
          <p:cNvPr id="170" name="Open up style.cs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Open</a:t>
            </a:r>
            <a:r>
              <a:rPr dirty="0"/>
              <a:t> </a:t>
            </a:r>
            <a:r>
              <a:rPr dirty="0">
                <a:latin typeface="Menlo Regular"/>
                <a:ea typeface="Menlo Regular"/>
                <a:cs typeface="Menlo Regular"/>
                <a:sym typeface="Menlo Regular"/>
              </a:rPr>
              <a:t>style.css</a:t>
            </a:r>
          </a:p>
          <a:p>
            <a:r>
              <a:rPr dirty="0"/>
              <a:t>CSS works with </a:t>
            </a:r>
            <a:r>
              <a:rPr dirty="0">
                <a:latin typeface="+mn-lt"/>
                <a:ea typeface="+mn-ea"/>
                <a:cs typeface="+mn-cs"/>
                <a:sym typeface="Open Sans Regular Bold"/>
              </a:rPr>
              <a:t>rules,</a:t>
            </a:r>
            <a:r>
              <a:rPr dirty="0"/>
              <a:t> using </a:t>
            </a:r>
            <a:r>
              <a:rPr dirty="0">
                <a:latin typeface="+mn-lt"/>
                <a:ea typeface="+mn-ea"/>
                <a:cs typeface="+mn-cs"/>
                <a:sym typeface="Open Sans Regular Bold"/>
              </a:rPr>
              <a:t>selectors, attributes, </a:t>
            </a:r>
            <a:r>
              <a:rPr dirty="0"/>
              <a:t>and </a:t>
            </a:r>
            <a:r>
              <a:rPr dirty="0">
                <a:latin typeface="+mn-lt"/>
                <a:ea typeface="+mn-ea"/>
                <a:cs typeface="+mn-cs"/>
                <a:sym typeface="Open Sans Regular Bold"/>
              </a:rPr>
              <a:t>values</a:t>
            </a:r>
          </a:p>
        </p:txBody>
      </p:sp>
      <p:sp>
        <p:nvSpPr>
          <p:cNvPr id="171" name="selector {   attribute: value; }"/>
          <p:cNvSpPr txBox="1"/>
          <p:nvPr/>
        </p:nvSpPr>
        <p:spPr>
          <a:xfrm>
            <a:off x="1735065" y="5879053"/>
            <a:ext cx="12909246" cy="1778001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selector {</a:t>
            </a:r>
            <a:br/>
            <a:r>
              <a:t>  attribute: value;</a:t>
            </a:r>
            <a:br/>
            <a:r>
              <a:t>} </a:t>
            </a:r>
          </a:p>
        </p:txBody>
      </p:sp>
      <p:sp>
        <p:nvSpPr>
          <p:cNvPr id="172" name="img {   width: 200px; }"/>
          <p:cNvSpPr txBox="1"/>
          <p:nvPr/>
        </p:nvSpPr>
        <p:spPr>
          <a:xfrm>
            <a:off x="1735065" y="7952133"/>
            <a:ext cx="12909246" cy="1778001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img {</a:t>
            </a:r>
            <a:br/>
            <a:r>
              <a:t>  width: 200px;</a:t>
            </a:r>
            <a:br/>
            <a:r>
              <a:t>} </a:t>
            </a:r>
          </a:p>
        </p:txBody>
      </p:sp>
      <p:sp>
        <p:nvSpPr>
          <p:cNvPr id="173" name="body {   text-align: center;   font-family: “Arial”;   color: purple; }"/>
          <p:cNvSpPr txBox="1"/>
          <p:nvPr/>
        </p:nvSpPr>
        <p:spPr>
          <a:xfrm>
            <a:off x="1735065" y="10025214"/>
            <a:ext cx="12909246" cy="2667001"/>
          </a:xfrm>
          <a:prstGeom prst="rect">
            <a:avLst/>
          </a:prstGeom>
          <a:solidFill>
            <a:srgbClr val="E0E6ED"/>
          </a:solidFill>
          <a:ln w="63500">
            <a:solidFill>
              <a:srgbClr val="8E8E8E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90500" tIns="190500" rIns="190500" bIns="190500">
            <a:spAutoFit/>
          </a:bodyPr>
          <a:lstStyle/>
          <a:p>
            <a:pPr algn="l">
              <a:defRPr sz="3000">
                <a:solidFill>
                  <a:srgbClr val="3C3C3C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rPr dirty="0"/>
              <a:t>body {</a:t>
            </a:r>
            <a:br>
              <a:rPr dirty="0"/>
            </a:br>
            <a:r>
              <a:rPr dirty="0"/>
              <a:t>  text-align: center;</a:t>
            </a:r>
            <a:br>
              <a:rPr dirty="0"/>
            </a:br>
            <a:r>
              <a:rPr dirty="0"/>
              <a:t>  font-family: “Arial”;</a:t>
            </a:r>
            <a:br>
              <a:rPr dirty="0"/>
            </a:br>
            <a:r>
              <a:rPr dirty="0"/>
              <a:t>  color: purple;</a:t>
            </a:r>
            <a:br>
              <a:rPr dirty="0"/>
            </a:br>
            <a:r>
              <a:rPr dirty="0"/>
              <a:t>}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 advAuto="0"/>
      <p:bldP spid="173" grpId="0" animBg="1" advAuto="0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Open Sans Regular ExtraBold"/>
        <a:ea typeface="Open Sans Regular ExtraBold"/>
        <a:cs typeface="Open Sans Regular ExtraBold"/>
      </a:majorFont>
      <a:minorFont>
        <a:latin typeface="Open Sans Regular Bold"/>
        <a:ea typeface="Open Sans Regular Bold"/>
        <a:cs typeface="Open Sans Regular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Open Sans Regular ExtraBold"/>
        <a:ea typeface="Open Sans Regular ExtraBold"/>
        <a:cs typeface="Open Sans Regular ExtraBold"/>
      </a:majorFont>
      <a:minorFont>
        <a:latin typeface="Open Sans Regular Bold"/>
        <a:ea typeface="Open Sans Regular Bold"/>
        <a:cs typeface="Open Sans Regular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743</Words>
  <Application>Microsoft Office PowerPoint</Application>
  <PresentationFormat>Custom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Helvetica Neue</vt:lpstr>
      <vt:lpstr>Helvetica Neue Medium</vt:lpstr>
      <vt:lpstr>Menlo Regular</vt:lpstr>
      <vt:lpstr>Open Sans Regular Bold</vt:lpstr>
      <vt:lpstr>Open Sans Regular Regular</vt:lpstr>
      <vt:lpstr>21_BasicWhite</vt:lpstr>
      <vt:lpstr>Welcome to  LMS Hack Club!</vt:lpstr>
      <vt:lpstr>So…how do websites work?</vt:lpstr>
      <vt:lpstr>What are CSS and JS for?</vt:lpstr>
      <vt:lpstr>Let’s start hacking!</vt:lpstr>
      <vt:lpstr>Let’s make a website!</vt:lpstr>
      <vt:lpstr>Adding some content</vt:lpstr>
      <vt:lpstr>See your code</vt:lpstr>
      <vt:lpstr>Adding some media</vt:lpstr>
      <vt:lpstr>Let’s add a bit of ✨spice✨</vt:lpstr>
      <vt:lpstr>How do we use CSS?</vt:lpstr>
      <vt:lpstr>How do we use CSS?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Hugo Robinson</dc:creator>
  <cp:lastModifiedBy>Hugo Robinson</cp:lastModifiedBy>
  <cp:revision>6</cp:revision>
  <dcterms:modified xsi:type="dcterms:W3CDTF">2025-10-07T07:01:09Z</dcterms:modified>
</cp:coreProperties>
</file>